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1628"/>
                </a:solidFill>
                <a:latin typeface="Arial"/>
              </a:rPr>
              <a:t>AUM by Fund House (Rs.M crore)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(Rs.M crore)</c:v>
                </c:pt>
              </c:strCache>
            </c:strRef>
          </c:tx>
          <c:spPr>
            <a:solidFill>
              <a:srgbClr val="0057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96-4E9A-B17D-C2B552868ECE}"/>
              </c:ext>
            </c:extLst>
          </c:dPt>
          <c:dPt>
            <c:idx val="1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96-4E9A-B17D-C2B552868ECE}"/>
              </c:ext>
            </c:extLst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96-4E9A-B17D-C2B552868ECE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B96-4E9A-B17D-C2B552868ECE}"/>
              </c:ext>
            </c:extLst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B96-4E9A-B17D-C2B552868ECE}"/>
              </c:ext>
            </c:extLst>
          </c:dPt>
          <c:dPt>
            <c:idx val="5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B96-4E9A-B17D-C2B552868EC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SBI MF</c:v>
                </c:pt>
                <c:pt idx="1">
                  <c:v>ICICI Pru</c:v>
                </c:pt>
                <c:pt idx="2">
                  <c:v>HDFC MF</c:v>
                </c:pt>
                <c:pt idx="3">
                  <c:v>Nippon</c:v>
                </c:pt>
                <c:pt idx="4">
                  <c:v>Kotak</c:v>
                </c:pt>
                <c:pt idx="5">
                  <c:v>ABSL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8.5</c:v>
                </c:pt>
                <c:pt idx="1">
                  <c:v>6.3</c:v>
                </c:pt>
                <c:pt idx="2">
                  <c:v>5.7</c:v>
                </c:pt>
                <c:pt idx="3">
                  <c:v>3.9</c:v>
                </c:pt>
                <c:pt idx="4">
                  <c:v>3.5</c:v>
                </c:pt>
                <c:pt idx="5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B96-4E9A-B17D-C2B552868E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1628"/>
                </a:solidFill>
                <a:latin typeface="Arial"/>
              </a:rPr>
              <a:t>SIP Inflow Trend (Rs.K crore)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</c:v>
                </c:pt>
              </c:strCache>
            </c:strRef>
          </c:tx>
          <c:spPr>
            <a:ln w="38100" cap="flat">
              <a:solidFill>
                <a:srgbClr val="00D4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195</c:v>
                </c:pt>
                <c:pt idx="1">
                  <c:v>245</c:v>
                </c:pt>
                <c:pt idx="2">
                  <c:v>310</c:v>
                </c:pt>
                <c:pt idx="3">
                  <c:v>395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7C2-40A4-A241-F81FA0BDC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1628"/>
                </a:solidFill>
                <a:latin typeface="Arial"/>
              </a:rPr>
              <a:t>Fund Universe by Sub-Category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57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71-46BD-99F3-DF24A355D4F8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71-46BD-99F3-DF24A355D4F8}"/>
              </c:ext>
            </c:extLst>
          </c:dPt>
          <c:dPt>
            <c:idx val="2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71-46BD-99F3-DF24A355D4F8}"/>
              </c:ext>
            </c:extLst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71-46BD-99F3-DF24A355D4F8}"/>
              </c:ext>
            </c:extLst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71-46BD-99F3-DF24A355D4F8}"/>
              </c:ext>
            </c:extLst>
          </c:dPt>
          <c:dPt>
            <c:idx val="5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671-46BD-99F3-DF24A355D4F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71-46BD-99F3-DF24A355D4F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71-46BD-99F3-DF24A355D4F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71-46BD-99F3-DF24A355D4F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71-46BD-99F3-DF24A355D4F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671-46BD-99F3-DF24A355D4F8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671-46BD-99F3-DF24A355D4F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Large Cap</c:v>
                </c:pt>
                <c:pt idx="1">
                  <c:v>Mid Cap</c:v>
                </c:pt>
                <c:pt idx="2">
                  <c:v>Small Cap</c:v>
                </c:pt>
                <c:pt idx="3">
                  <c:v>Liquid</c:v>
                </c:pt>
                <c:pt idx="4">
                  <c:v>Gilt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7</c:v>
                </c:pt>
                <c:pt idx="2">
                  <c:v>6</c:v>
                </c:pt>
                <c:pt idx="3">
                  <c:v>3</c:v>
                </c:pt>
                <c:pt idx="4">
                  <c:v>2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671-46BD-99F3-DF24A355D4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1628"/>
                </a:solidFill>
                <a:latin typeface="Arial"/>
              </a:rPr>
              <a:t>Transaction Mix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57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7B6-4500-8581-3166CAB5391A}"/>
              </c:ext>
            </c:extLst>
          </c:dPt>
          <c:dPt>
            <c:idx val="1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B6-4500-8581-3166CAB5391A}"/>
              </c:ext>
            </c:extLst>
          </c:dPt>
          <c:dPt>
            <c:idx val="2"/>
            <c:bubble3D val="0"/>
            <c:spPr>
              <a:solidFill>
                <a:srgbClr val="00D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7B6-4500-8581-3166CAB5391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7B6-4500-8581-3166CAB5391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7B6-4500-8581-3166CAB5391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7B6-4500-8581-3166CAB5391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Lumpsum</c:v>
                </c:pt>
                <c:pt idx="1">
                  <c:v>Redemption</c:v>
                </c:pt>
                <c:pt idx="2">
                  <c:v>SIP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58.49</c:v>
                </c:pt>
                <c:pt idx="1">
                  <c:v>35.340000000000003</c:v>
                </c:pt>
                <c:pt idx="2">
                  <c:v>6.17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B6-4500-8581-3166CAB53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1628"/>
                </a:solidFill>
                <a:latin typeface="Arial"/>
              </a:rPr>
              <a:t>Avg Investment by Age Group (Rs.K)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Investment (Rs.K)</c:v>
                </c:pt>
              </c:strCache>
            </c:strRef>
          </c:tx>
          <c:spPr>
            <a:solidFill>
              <a:srgbClr val="0057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C6A-4F0D-96A2-43914A31245B}"/>
              </c:ext>
            </c:extLst>
          </c:dPt>
          <c:dPt>
            <c:idx val="1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6A-4F0D-96A2-43914A31245B}"/>
              </c:ext>
            </c:extLst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6A-4F0D-96A2-43914A31245B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6A-4F0D-96A2-43914A31245B}"/>
              </c:ext>
            </c:extLst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C6A-4F0D-96A2-43914A3124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</c:v>
                </c:pt>
                <c:pt idx="1">
                  <c:v>108</c:v>
                </c:pt>
                <c:pt idx="2">
                  <c:v>107</c:v>
                </c:pt>
                <c:pt idx="3">
                  <c:v>107</c:v>
                </c:pt>
                <c:pt idx="4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C6A-4F0D-96A2-43914A3124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1628"/>
                </a:solidFill>
                <a:latin typeface="Arial"/>
              </a:rPr>
              <a:t>Top 6 Funds — 3yr CAGR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3yr CAGR (%)</c:v>
                </c:pt>
              </c:strCache>
            </c:strRef>
          </c:tx>
          <c:spPr>
            <a:solidFill>
              <a:srgbClr val="0057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F3-4F98-B4BE-82B3E2F3933F}"/>
              </c:ext>
            </c:extLst>
          </c:dPt>
          <c:dPt>
            <c:idx val="1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F3-4F98-B4BE-82B3E2F3933F}"/>
              </c:ext>
            </c:extLst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F3-4F98-B4BE-82B3E2F3933F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F3-4F98-B4BE-82B3E2F3933F}"/>
              </c:ext>
            </c:extLst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F3-4F98-B4BE-82B3E2F3933F}"/>
              </c:ext>
            </c:extLst>
          </c:dPt>
          <c:dPt>
            <c:idx val="5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CF3-4F98-B4BE-82B3E2F393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Mid Cap A</c:v>
                </c:pt>
                <c:pt idx="1">
                  <c:v>Small Cap B</c:v>
                </c:pt>
                <c:pt idx="2">
                  <c:v>Small Cap C</c:v>
                </c:pt>
                <c:pt idx="3">
                  <c:v>Mid Cap D</c:v>
                </c:pt>
                <c:pt idx="4">
                  <c:v>Mid Cap E</c:v>
                </c:pt>
                <c:pt idx="5">
                  <c:v>Large Cap 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36.07</c:v>
                </c:pt>
                <c:pt idx="1">
                  <c:v>33.630000000000003</c:v>
                </c:pt>
                <c:pt idx="2">
                  <c:v>32.53</c:v>
                </c:pt>
                <c:pt idx="3">
                  <c:v>31.28</c:v>
                </c:pt>
                <c:pt idx="4">
                  <c:v>30.21</c:v>
                </c:pt>
                <c:pt idx="5">
                  <c:v>27.73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CF3-4F98-B4BE-82B3E2F393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1628"/>
                </a:solidFill>
                <a:latin typeface="Arial"/>
              </a:rPr>
              <a:t>CAGR vs Sharpe Ratio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ln w="25400" cap="flat">
              <a:solidFill>
                <a:srgbClr val="0057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57B8"/>
              </a:solidFill>
              <a:ln w="9525" cap="flat">
                <a:solidFill>
                  <a:srgbClr val="0057B8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27.73</c:v>
                </c:pt>
                <c:pt idx="1">
                  <c:v>30.21</c:v>
                </c:pt>
                <c:pt idx="2">
                  <c:v>31.28</c:v>
                </c:pt>
                <c:pt idx="3">
                  <c:v>32.53</c:v>
                </c:pt>
                <c:pt idx="4">
                  <c:v>33.630000000000003</c:v>
                </c:pt>
                <c:pt idx="5">
                  <c:v>36.07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1.21</c:v>
                </c:pt>
                <c:pt idx="1">
                  <c:v>1.21</c:v>
                </c:pt>
                <c:pt idx="2">
                  <c:v>1.1399999999999999</c:v>
                </c:pt>
                <c:pt idx="3">
                  <c:v>1.1000000000000001</c:v>
                </c:pt>
                <c:pt idx="4">
                  <c:v>1.1100000000000001</c:v>
                </c:pt>
                <c:pt idx="5">
                  <c:v>1.42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E76-4FE6-ADBA-ACDA07B16B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1628"/>
                </a:solidFill>
                <a:latin typeface="Arial"/>
              </a:rPr>
              <a:t>Worst Maximum Drawdowns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Drawdown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C8-4C31-8A62-255DC2CB7BDC}"/>
              </c:ext>
            </c:extLst>
          </c:dPt>
          <c:dPt>
            <c:idx val="1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C8-4C31-8A62-255DC2CB7BDC}"/>
              </c:ext>
            </c:extLst>
          </c:dPt>
          <c:dPt>
            <c:idx val="2"/>
            <c:invertIfNegative val="0"/>
            <c:bubble3D val="0"/>
            <c:spPr>
              <a:solidFill>
                <a:srgbClr val="FB9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C8-4C31-8A62-255DC2CB7BDC}"/>
              </c:ext>
            </c:extLst>
          </c:dPt>
          <c:dPt>
            <c:idx val="3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C8-4C31-8A62-255DC2CB7BDC}"/>
              </c:ext>
            </c:extLst>
          </c:dPt>
          <c:dPt>
            <c:idx val="4"/>
            <c:invertIfNegative val="0"/>
            <c:bubble3D val="0"/>
            <c:spPr>
              <a:solidFill>
                <a:srgbClr val="FCD3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2C8-4C31-8A62-255DC2CB7BDC}"/>
              </c:ext>
            </c:extLst>
          </c:dPt>
          <c:dPt>
            <c:idx val="5"/>
            <c:invertIfNegative val="0"/>
            <c:bubble3D val="0"/>
            <c:spPr>
              <a:solidFill>
                <a:srgbClr val="FDE6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2C8-4C31-8A62-255DC2CB7BD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SBI SC Direct</c:v>
                </c:pt>
                <c:pt idx="1">
                  <c:v>SBI SC Reg</c:v>
                </c:pt>
                <c:pt idx="2">
                  <c:v>Mid Cap A</c:v>
                </c:pt>
                <c:pt idx="3">
                  <c:v>Thematic B</c:v>
                </c:pt>
                <c:pt idx="4">
                  <c:v>Mid Cap C</c:v>
                </c:pt>
                <c:pt idx="5">
                  <c:v>Mid Cap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-52.57</c:v>
                </c:pt>
                <c:pt idx="1">
                  <c:v>-28.71</c:v>
                </c:pt>
                <c:pt idx="2">
                  <c:v>-35.450000000000003</c:v>
                </c:pt>
                <c:pt idx="3">
                  <c:v>-31.17</c:v>
                </c:pt>
                <c:pt idx="4">
                  <c:v>-28</c:v>
                </c:pt>
                <c:pt idx="5">
                  <c:v>-25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2C8-4C31-8A62-255DC2CB7B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8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43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7-day Bluestock Fintech Mutual Fund Analytics Capstone. Covers full data science lifecycle from ETL to dashboard and advanced analytics including all 5 bonus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problem: booming Indian MF industry lacks integrated analytics. This project builds that infrastructure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CSV files spanning Jan 2022 to May 2026. Perfect AMFI code alignment between fund_master and nav_history (40 of 40 codes matched).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Fully modular pipeline — each layer runs independently. Bonus layer adds production-grade capabilities: live data ingestion, web deployment, Monte Carlo simulation, and automated email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SBI MF leads with Rs.8.5M crore AUM. SIP inflows grew 31.46% YoY average. Large Cap equity dominates with 14 of 40 schemes.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Critical: 97.8% of SIP investors have irregular gaps &gt;35 days. Biggest retention opportunity. Age group investment is remarkably uniform across all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Mid-Cap equity funds dominate all performance metrics. Best Sharpe of 1.42 is exceptional — anything above 1.0 indicates superior risk-adjusted performance. Risk-free rate: 6.5% (RBI repo rate proxy).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composite scorecard enables objective cross-category fund selection. ICICI Pru Midcap tops the ranking with score 80.60. Scorecard weights reflect industry best practice for retail fund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 BI dashboard is the flagship deliverable. Page 1 is the industry-wide view; Page 2 provides fund-level drill-down with custom tooltips.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3 reveals geographic concentration and investor segmentation. Page 4 is the market-level view — SIP inflows vs NIFTY 100 overlay, category heatmap, and the headline 31.46% SIP YoY growth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SIP continuity finding is the most actionable for Bluestock product team. 97.8% at-risk is real investor behaviour — a simple nudge campaign could meaningfully improve lifetime value and AUM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walk through any section in detail — ETL architecture, Monte Carlo methodology, or Power BI DAX measures. All code available on GitHub at github.com/Thanuj64/bluestock_mf_capstone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DATA ANALYST INTERNSHIP — COHORT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320040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Capstone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Science: ETL  •  EDA  •  Analytics  •  Dashboard  •  Deployment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92024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041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Satya Thanuj Vummidi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14600" y="4023360"/>
            <a:ext cx="192024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4041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43708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0" y="4023360"/>
            <a:ext cx="192024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4041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Division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43708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629400" y="4023360"/>
            <a:ext cx="192024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4041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github.com/Thanuj64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43708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 does this project solve?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14800" cy="3383280"/>
          </a:xfrm>
          <a:prstGeom prst="rect">
            <a:avLst/>
          </a:prstGeom>
          <a:solidFill>
            <a:srgbClr val="F0F6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MF industry manages Rs.39T+ AUM — but analytics infrastructure is fragmented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data spread across disparate sources with no unified view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lack risk-adjusted comparison tools (Sharpe, Sortino, Alpha)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 rates are poor — 97.8% of investors show irregular gaps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monitoring or automated reporting pipeline exists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4114800" cy="338328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 pipeline: 10 datasets into SQLite star schema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EDA with 9 interactive visualisations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quantitative metrics: CAGR, Sharpe, Sortino, Alpha, Beta, Drawdown, Scorecard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 dashboard with full Bluestock branding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bonus features: Live ETL, Streamlit App, Monte Carlo, Efficient Frontier, Email Reports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structured datasets covering the full MF ecosystem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206240" cy="594360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457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344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schemes, 15 attributes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75104"/>
            <a:ext cx="42062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75104"/>
            <a:ext cx="457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751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0208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2768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daily NAV records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4206240" cy="594360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51760"/>
            <a:ext cx="457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51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29535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quarterly snapshots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328416"/>
            <a:ext cx="42062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28416"/>
            <a:ext cx="457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2841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374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3630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months of SIP data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005072"/>
            <a:ext cx="4206240" cy="594360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005072"/>
            <a:ext cx="457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0507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43068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category-month rows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1298448"/>
            <a:ext cx="42062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1298448"/>
            <a:ext cx="457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29844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49240" y="1344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924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industry trend points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1975104"/>
            <a:ext cx="4206240" cy="594360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1975104"/>
            <a:ext cx="457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9751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20208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9240" y="22768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pre-computed metrics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00600" y="2651760"/>
            <a:ext cx="42062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2651760"/>
            <a:ext cx="457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651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4924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9240" y="29535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buy/sell/SIP rows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00600" y="3328416"/>
            <a:ext cx="4206240" cy="594360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0600" y="3328416"/>
            <a:ext cx="457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32841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49240" y="3374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49240" y="3630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 sector weight records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00600" y="4005072"/>
            <a:ext cx="42062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4005072"/>
            <a:ext cx="457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00507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49240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49240" y="43068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8,050 NIFTY 100 closes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0040" y="4617720"/>
            <a:ext cx="192024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20040" y="4654296"/>
            <a:ext cx="192024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46K+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320040" y="4845954"/>
            <a:ext cx="1920240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468880" y="4617720"/>
            <a:ext cx="192024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468880" y="4654296"/>
            <a:ext cx="192024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32.8K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2468880" y="4845954"/>
            <a:ext cx="1920240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17720" y="4617720"/>
            <a:ext cx="192024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617720" y="4654296"/>
            <a:ext cx="192024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Yrs</a:t>
            </a:r>
            <a:endParaRPr lang="en-US" sz="2100" dirty="0"/>
          </a:p>
        </p:txBody>
      </p:sp>
      <p:sp>
        <p:nvSpPr>
          <p:cNvPr id="64" name="Text 62"/>
          <p:cNvSpPr/>
          <p:nvPr/>
        </p:nvSpPr>
        <p:spPr>
          <a:xfrm>
            <a:off x="4617720" y="4845954"/>
            <a:ext cx="1920240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766560" y="4617720"/>
            <a:ext cx="192024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766560" y="4654296"/>
            <a:ext cx="1920240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AMCs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6766560" y="4845954"/>
            <a:ext cx="1920240" cy="12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0" y="4983474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2026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 →  Transform  →  Load  →  Analyse  →  Visualise  →  Deploy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1298448" cy="22860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630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856232"/>
            <a:ext cx="749808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47672"/>
            <a:ext cx="129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 Files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01-10_*.csv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18488" y="22860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755648" y="1389888"/>
            <a:ext cx="1298448" cy="2286000"/>
          </a:xfrm>
          <a:prstGeom prst="rect">
            <a:avLst/>
          </a:prstGeom>
          <a:solidFill>
            <a:srgbClr val="0057B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55648" y="14630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29968" y="1856232"/>
            <a:ext cx="749808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5648" y="1947672"/>
            <a:ext cx="129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etl_pipeline.py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Transform+Clean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54096" y="22860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91256" y="1389888"/>
            <a:ext cx="1298448" cy="2286000"/>
          </a:xfrm>
          <a:prstGeom prst="rect">
            <a:avLst/>
          </a:prstGeom>
          <a:solidFill>
            <a:srgbClr val="0369A1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91256" y="14630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65576" y="1856232"/>
            <a:ext cx="749808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91256" y="1947672"/>
            <a:ext cx="129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dims + 8 facts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89704" y="22860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26864" y="1389888"/>
            <a:ext cx="1298448" cy="2286000"/>
          </a:xfrm>
          <a:prstGeom prst="rect">
            <a:avLst/>
          </a:prstGeom>
          <a:solidFill>
            <a:srgbClr val="0E7490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14630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01184" y="1856232"/>
            <a:ext cx="749808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947672"/>
            <a:ext cx="129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compute_metrics.py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Metrics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25312" y="22860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62472" y="1389888"/>
            <a:ext cx="1298448" cy="2286000"/>
          </a:xfrm>
          <a:prstGeom prst="rect">
            <a:avLst/>
          </a:prstGeom>
          <a:solidFill>
            <a:srgbClr val="047857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62472" y="14630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36792" y="1856232"/>
            <a:ext cx="749808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1947672"/>
            <a:ext cx="129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60920" y="228600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98080" y="1389888"/>
            <a:ext cx="1298448" cy="2286000"/>
          </a:xfrm>
          <a:prstGeom prst="rect">
            <a:avLst/>
          </a:prstGeom>
          <a:solidFill>
            <a:srgbClr val="065F46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98080" y="14630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72400" y="1856232"/>
            <a:ext cx="749808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1947672"/>
            <a:ext cx="129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b2_streamlit_app.py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840480"/>
            <a:ext cx="8503920" cy="77724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39044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LAYER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4114800"/>
            <a:ext cx="1554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B1: Cron ETL (mfapi.in)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29968" y="4114800"/>
            <a:ext cx="1554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029968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B2: Streamlit App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739896" y="4114800"/>
            <a:ext cx="1554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739896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B3: Monte Carlo GBM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49824" y="4114800"/>
            <a:ext cx="1554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49824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B4: Efficient Frontier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159752" y="4114800"/>
            <a:ext cx="1554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159752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B5: Email Reports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2026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Industry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growth, SIP trends, and fund universe composition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298448"/>
          <a:ext cx="4754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257800" y="1298448"/>
          <a:ext cx="356616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2"/>
          <p:cNvGraphicFramePr/>
          <p:nvPr/>
        </p:nvGraphicFramePr>
        <p:xfrm>
          <a:off x="5257800" y="2651760"/>
          <a:ext cx="35661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/>
          <p:cNvSpPr/>
          <p:nvPr/>
        </p:nvSpPr>
        <p:spPr>
          <a:xfrm>
            <a:off x="320040" y="4069080"/>
            <a:ext cx="141732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320040" y="4105656"/>
            <a:ext cx="1417320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31.46%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320040" y="4411431"/>
            <a:ext cx="141732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YoY SIP Growth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1929384" y="4069080"/>
            <a:ext cx="141732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1929384" y="4105656"/>
            <a:ext cx="1417320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Rs.39T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929384" y="4411431"/>
            <a:ext cx="141732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Industry AUM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3538728" y="4069080"/>
            <a:ext cx="141732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538728" y="4105656"/>
            <a:ext cx="1417320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13.26Cr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3538728" y="4411431"/>
            <a:ext cx="1417320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 (Jan 2022)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2026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Investor Behaviour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transaction patterns, and geographic distribution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298448"/>
          <a:ext cx="32918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3794760" y="1298448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3749040"/>
            <a:ext cx="1920240" cy="100584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0040" y="3785616"/>
            <a:ext cx="19202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58.49%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20040" y="4272077"/>
            <a:ext cx="1920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Lumpsum dominates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20040" y="4533595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mix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2468880" y="3749040"/>
            <a:ext cx="1920240" cy="100584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468880" y="3785616"/>
            <a:ext cx="19202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&amp; TN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2468880" y="4272077"/>
            <a:ext cx="1920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investing states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468880" y="4533595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Rs.0.32bn each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4617720" y="3749040"/>
            <a:ext cx="1920240" cy="100584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617720" y="3785616"/>
            <a:ext cx="19202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4617720" y="4272077"/>
            <a:ext cx="1920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617720" y="4533595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records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6766560" y="3749040"/>
            <a:ext cx="1920240" cy="100584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766560" y="3785616"/>
            <a:ext cx="19202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2100" dirty="0"/>
          </a:p>
        </p:txBody>
      </p:sp>
      <p:sp>
        <p:nvSpPr>
          <p:cNvPr id="22" name="Text 18"/>
          <p:cNvSpPr/>
          <p:nvPr/>
        </p:nvSpPr>
        <p:spPr>
          <a:xfrm>
            <a:off x="6766560" y="4272077"/>
            <a:ext cx="1920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investors at risk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766560" y="4533595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&gt; 35 days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2026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Returns &amp; Risk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Sharpe, Sortino computed for all 40 funds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298448"/>
          <a:ext cx="4754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257800" y="1298448"/>
          <a:ext cx="35661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041648"/>
            <a:ext cx="1920240" cy="68580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20040" y="40782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36.07%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20040" y="4398264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3yr CAGR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468880" y="4041648"/>
            <a:ext cx="1920240" cy="68580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468880" y="40782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1.42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2468880" y="4398264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17720" y="4041648"/>
            <a:ext cx="1920240" cy="68580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17720" y="40782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4617720" y="4398264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Sortino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766560" y="4041648"/>
            <a:ext cx="1920240" cy="68580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766560" y="40782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0.307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6766560" y="4398264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Alpha/day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2026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Drawdown &amp; Scorecard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and composite fund ranking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298448"/>
          <a:ext cx="4754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298448"/>
          <a:ext cx="3566160" cy="27432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3yr CAGR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#1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ICICI Pru Midcap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80.60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30.21%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#2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Axis Midcap Fund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80.50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25.66%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#3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Mirae Large Cap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75.40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27.73%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#4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HDFC Mid-Cap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73.70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25.66%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#5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DSP Small Cap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73.70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33.63%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1.11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069080"/>
            <a:ext cx="8503920" cy="713232"/>
          </a:xfrm>
          <a:prstGeom prst="rect">
            <a:avLst/>
          </a:prstGeom>
          <a:solidFill>
            <a:srgbClr val="F0F6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41330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Small-cap funds deliver highest CAGR but carry extreme drawdown risk (up to -52.57%). Mid-cap funds offer the best risk-adjusted trade-off. Composite scorecard weights: CAGR 30% | Sharpe 25% | Alpha 20% | Expense Ratio 15% | Drawdown 10%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2026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1 &amp; 2: Industry Overview + Fund Performance</a:t>
            </a:r>
            <a:endParaRPr lang="en-US" sz="1100" dirty="0"/>
          </a:p>
        </p:txBody>
      </p:sp>
      <p:pic>
        <p:nvPicPr>
          <p:cNvPr id="6" name="Image 0" descr="/mnt/user-data/uploads/Industry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25880"/>
            <a:ext cx="4160520" cy="2331720"/>
          </a:xfrm>
          <a:prstGeom prst="rect">
            <a:avLst/>
          </a:prstGeom>
        </p:spPr>
      </p:pic>
      <p:pic>
        <p:nvPicPr>
          <p:cNvPr id="7" name="Image 1" descr="/mnt/user-data/uploads/Fund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25880"/>
            <a:ext cx="4160520" cy="2331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3730752"/>
            <a:ext cx="41605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3730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Industry Overview — KPIs, AUM growth, SIP bar chart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663440" y="3730752"/>
            <a:ext cx="41605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63440" y="3730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Fund Performance — Risk/Return scatter, Scorecard table, NAV Trend 2022-2026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20040" y="41879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brand theme (#0A1628 + #00D4FF)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drill-through navigation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slicers: Date Range, Fund House, Category, Plan (Regular/Direct)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2026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3 &amp; 4: Investor Analytics + SIP &amp; Market Trends</a:t>
            </a:r>
            <a:endParaRPr lang="en-US" sz="1100" dirty="0"/>
          </a:p>
        </p:txBody>
      </p:sp>
      <p:pic>
        <p:nvPicPr>
          <p:cNvPr id="6" name="Image 0" descr="/mnt/user-data/uploads/Investor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25880"/>
            <a:ext cx="4160520" cy="2331720"/>
          </a:xfrm>
          <a:prstGeom prst="rect">
            <a:avLst/>
          </a:prstGeom>
        </p:spPr>
      </p:pic>
      <p:pic>
        <p:nvPicPr>
          <p:cNvPr id="7" name="Image 1" descr="/mnt/user-data/uploads/SIP___Market_Tr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25880"/>
            <a:ext cx="4160520" cy="2331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3730752"/>
            <a:ext cx="41605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3730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Investor Analytics — State-wise, SIP vs Lumpsum donut, Monthly volume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663440" y="3730752"/>
            <a:ext cx="41605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63440" y="3730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SIP &amp; Market Trends — Category heatmap, YoY growth 31.46%, SIP vs Index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20040" y="41879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tooltips on fund hover showing detailed metrics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Cross-page filters: State, Age Group, City Tier (T30/B30)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YoY SIP Growth KPI card: 31.46% | Category Inflow Heatmap with colour coding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2026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4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insights that drive actionable strategy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743200" cy="1572768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2743200" cy="320040"/>
          </a:xfrm>
          <a:prstGeom prst="rect">
            <a:avLst/>
          </a:prstGeom>
          <a:solidFill>
            <a:srgbClr val="0057B8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35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Mid-Cap Dominance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risk-adjusted returns (Sharpe 1.2-1.42). Recommend 25-35% allocation for moderate-risk investors.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298448"/>
            <a:ext cx="2743200" cy="1572768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98448"/>
            <a:ext cx="2743200" cy="320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35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 31.46%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168249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growing 31% YoY — structural retail shift. Liquid category leads net inflows at Rs.0.45M crore.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0760" y="1298448"/>
            <a:ext cx="2743200" cy="1572768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298448"/>
            <a:ext cx="274320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35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Alpha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72200" y="168249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funds show positive daily alpha vs NIFTY 100. Low R2 confirms genuine active management.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990088"/>
            <a:ext cx="2743200" cy="1572768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90088"/>
            <a:ext cx="27432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26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 Gap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37413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of SIP investors have gaps &gt;35 days. Automated nudges could improve retention by 15-25%.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2990088"/>
            <a:ext cx="2743200" cy="1572768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90088"/>
            <a:ext cx="27432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026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 Edge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91840" y="337413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plans: 0.7-0.9% lower expense ratios. Over 10 years this compounds to 8-12% additional NAV.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80760" y="2990088"/>
            <a:ext cx="2743200" cy="1572768"/>
          </a:xfrm>
          <a:prstGeom prst="rect">
            <a:avLst/>
          </a:prstGeom>
          <a:solidFill>
            <a:srgbClr val="F0F6FF"/>
          </a:solidFill>
          <a:ln w="5080">
            <a:solidFill>
              <a:srgbClr val="CBD5E1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990088"/>
            <a:ext cx="27432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026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Opportunity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337413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concentrated in T30 cities. Tier-2/3 cities represent untapped growth with micro-SIP products.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| Mutual Fund Analytics Capstone 2026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772400" y="489204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MUTUAL FUND ANALYTICS CAPSTONE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0" y="685800"/>
            <a:ext cx="5486400" cy="201168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777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1554480" cy="82296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871216"/>
            <a:ext cx="155448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20040" y="3262579"/>
            <a:ext cx="15544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2834640"/>
            <a:ext cx="1554480" cy="82296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29968" y="2871216"/>
            <a:ext cx="155448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46K+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029968" y="3262579"/>
            <a:ext cx="15544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Processed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39896" y="2834640"/>
            <a:ext cx="1554480" cy="82296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9896" y="2871216"/>
            <a:ext cx="155448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39896" y="3262579"/>
            <a:ext cx="15544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Analysed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9824" y="2834640"/>
            <a:ext cx="1554480" cy="82296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9824" y="2871216"/>
            <a:ext cx="155448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49824" y="3262579"/>
            <a:ext cx="15544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59752" y="2834640"/>
            <a:ext cx="1554480" cy="82296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59752" y="2871216"/>
            <a:ext cx="155448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159752" y="3262579"/>
            <a:ext cx="155448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Tasks Done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8503920" cy="914400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840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Satya Thanuj Vummidi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— Bluestock Fintech, Cohort 2026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3251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github.com/Thanuj64/bluestock_mf_capstone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0" y="3840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Final_Report.pdf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Dashboard.pbix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etl_pipeline.py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compute_metrics.py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Streamlit App (b2)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1551</Words>
  <Application>Microsoft Office PowerPoint</Application>
  <PresentationFormat>On-screen Show (16:9)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Capstone</dc:title>
  <dc:subject>Mutual Fund Analytics | Bluestock Fintech 2026</dc:subject>
  <dc:creator>Sri Satya Thanuj Vummidi</dc:creator>
  <cp:lastModifiedBy>Ganesh Vummidi</cp:lastModifiedBy>
  <cp:revision>3</cp:revision>
  <dcterms:created xsi:type="dcterms:W3CDTF">2026-06-11T04:49:18Z</dcterms:created>
  <dcterms:modified xsi:type="dcterms:W3CDTF">2026-06-11T07:56:01Z</dcterms:modified>
</cp:coreProperties>
</file>